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Aloita tervehrimällä opiskelijat. Kerro päivän rakenne ja mitä tänään opitaan. Muistuta, että ennakkoluenta (moduuli 1) on pitänyt lukea ennen tätä päivää.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Agenda-diat auttaa oppilaita hahmottamaan kokonaisuuden. Kerro nopeasti jokainen kohta ääneen.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Piirrä voimadiagrammi taululle tai selitä käsillä. Korosta, että nostovoima kasvaa ilmanopeuden NELIÖÖN — kaksi kertaa nopeampi = 4× nostovoima.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Käytä omaa kehoa esimerkkinä — näytä pitch, roll, yaw liikkeillä. Oppilaat muistavat paremmin kun he voivat toistaa liikkeet itse.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Esimerkki: Siiven minimikiihdytys 25 km/h, tuuli 15 km/h vastatuuleen → tarvitset juosta vain 10 km/h. Myötätuuleen pitäisi juosta 40 km/h — mahdotonta!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Tuo oikea varuste esille jos mahdollista. Pyydä oppilaita nimeämään osat itse — aktiivinen oppiminen.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TURVALLISUUSKRIITTINEN: Korosta, että itse tehdyt korjaukset ovat hengenvaarallisia. Mainitse tyyppitodistuksen merkitys käytännössä (esim. käytetyn siiven osto).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Kerro opiskelijoille mistä löytää ajankohtaiset määräykset (SIL ry:n verkkosivut). Muistuta: PP1 EI oikeuta itsenäiseen lentämiseen.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TURVALLISUUSKRIITTINEN DIAESITYS. Pyydä oppilaita toistamaan jokainen kohta ääneen. Varmista, että kaikki ymmärtävät pelastusvarjon tarkistuksen tärkeyden.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Kerro opiskelijoille, että sovelluksen testi on oppimistyökalu, ei rankaisu. Läpäisyraja on matala — tavoitteena on tunnistaa mitä pitää vielä kerrata ennen Päivä 2:ta.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2062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BBBB"/>
                </a:solidFill>
                <a:latin typeface="Calibri"/>
              </a:rPr>
              <a:t>PP1 · Ensimmäiset lennot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Siippi, valjaat ja
aerodynamiikan perusteet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DDDDD"/>
                </a:solidFill>
                <a:latin typeface="Calibri"/>
              </a:rPr>
              <a:t>Päivä 1 — Maakäsittely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Calibri"/>
              </a:rPr>
              <a:t>Foxer Paragliding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  <a:latin typeface="Calibri"/>
              </a:rPr>
              <a:t>~10 min</a:t>
            </a:r>
          </a:p>
        </p:txBody>
      </p:sp>
      <p:pic>
        <p:nvPicPr>
          <p:cNvPr id="8" name="Picture 7" descr="fox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54864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Calibri"/>
              </a:rPr>
              <a:t>Tänään käymme läpi: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① Voimat vaakalennossa — nostovoima, vastus, painovoima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② Kolme akselia — pitch, roll, yaw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③ Ilmanopeus vs. maanopeus — miksi vastatuuleen?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④ Siippi ja valjaat — osat ja terminologia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⑤ Varusteet, huolto ja säännöt lyhyesti</a:t>
            </a:r>
          </a:p>
        </p:txBody>
      </p:sp>
      <p:pic>
        <p:nvPicPr>
          <p:cNvPr id="6" name="Picture 5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Calibri"/>
              </a:rPr>
              <a:t>Voimat vaakalennossa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🟦  Painovoima — vetää lentäjän alaspäin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🟩  Nostovoima — pitää siiven ilmassa (riippuu ilmanopeudesta²)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🟧  Vastus — hidastaa lentoa (vastakkainen lentosuuntaan)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➕  Hinausvoima — neljäs voima hinauksessa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→  Tasapaino: nostovoima = painovoima, vastus = vetovoimat</a:t>
            </a:r>
          </a:p>
        </p:txBody>
      </p:sp>
      <p:pic>
        <p:nvPicPr>
          <p:cNvPr id="6" name="Picture 5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Calibri"/>
              </a:rPr>
              <a:t>Kolme akselia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↕  Poikittaisakseli → Pitch  (nenä ylös/alas)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↔  Pituusakseli    → Roll   (siiven kallistus sivulle)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↻  Pystyakseli     → Yaw    (suunnanmuutos)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Jarrulenkit ohjaavat pääasiassa roll- ja yaw-akseleita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Vakaa liidin palaa itsestään tasapainoasentoon</a:t>
            </a:r>
          </a:p>
        </p:txBody>
      </p:sp>
      <p:pic>
        <p:nvPicPr>
          <p:cNvPr id="6" name="Picture 5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Calibri"/>
              </a:rPr>
              <a:t>Ilmanopeus vs. maanopeus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Ilmanopeus  = nopeus suhteessa ilmaan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Maanopeus   = nopeus suhteessa maahan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Vastatuuleen: ilmanopeus = maanopeus + tuulennopeus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→ Lentoonlähtö vastatuuleen = pienin maanopeus, turvallisin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Sama periaate laskussa — pienempi isku maahan</a:t>
            </a:r>
          </a:p>
        </p:txBody>
      </p:sp>
      <p:pic>
        <p:nvPicPr>
          <p:cNvPr id="6" name="Picture 5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Calibri"/>
              </a:rPr>
              <a:t>Siippi ja valjaat — osat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Siippi: kangas → solut → A/B/C/D-kantohihnat → jarrulenkit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Punokset: yhdistävät siiven kantohihnoihin (älä solmi!)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Valjaat: kiinnittävät lentäjän siipeen — istuttava oikein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Tyyppitodistus = siipimalli on hyväksytty ja turvallinen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Karabiinit: tarkista kiinni + lukittu ennen jokaista lentoa</a:t>
            </a:r>
          </a:p>
        </p:txBody>
      </p:sp>
      <p:pic>
        <p:nvPicPr>
          <p:cNvPr id="6" name="Picture 5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Calibri"/>
              </a:rPr>
              <a:t>Varusteet ja huolto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Pakollinen varustus: kypärä · jalkineet · käsineet · pelastusvarjo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Pelastusvarjo: tarkista pakattu + määräaikaishuollettu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Päivittäinen tarkastus: punokset, kangas, valjaat, karabiinit</a:t>
            </a:r>
          </a:p>
          <a:p>
            <a:pPr algn="l" a:spcBef="0"/>
            <a:r>
              <a:rPr sz="2200" b="1">
                <a:solidFill>
                  <a:srgbClr val="CC0000"/>
                </a:solidFill>
                <a:latin typeface="Calibri"/>
              </a:rPr>
              <a:t>⚠️  ÄLÄ säädä tai korjaa siipeä itse — toimita huoltajalle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Siiven käyttöikä rajoitettu — seuraa lentotunteja ja ikää</a:t>
            </a:r>
          </a:p>
        </p:txBody>
      </p:sp>
      <p:pic>
        <p:nvPicPr>
          <p:cNvPr id="6" name="Picture 5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Calibri"/>
              </a:rPr>
              <a:t>Säännöt lyhyesti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Suomessa varjoliitoa säätelee: Trafi OPS M2-9 + SIL ry:n koulutusohjelma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SIL ry: Liidintoimikunta (LIT) vastaa koulutusstandardeista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Lentopaikalla omat paikallismääräykset — kysy aina ensin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PP1: saa lentää vain kouluttajan valvonnassa, max 50 m AGL</a:t>
            </a:r>
          </a:p>
          <a:p>
            <a:pPr algn="l" a:spcBef="0"/>
            <a:r>
              <a:rPr sz="2200" b="0">
                <a:solidFill>
                  <a:srgbClr val="3D3D3D"/>
                </a:solidFill>
                <a:latin typeface="Calibri"/>
              </a:rPr>
              <a:t>Hyvän käytöksen säännöt: toisten lentäjien turvallisuus ensin</a:t>
            </a:r>
          </a:p>
        </p:txBody>
      </p:sp>
      <p:pic>
        <p:nvPicPr>
          <p:cNvPr id="6" name="Picture 5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 Turvallisuus — muista nämä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C0000"/>
                </a:solidFill>
                <a:latin typeface="Calibri"/>
              </a:rPr>
              <a:t>⚠️  ÄLÄ korjaa tai säädä siipeä tai valjaita itse — vie ammattilaiselle</a:t>
            </a:r>
          </a:p>
          <a:p>
            <a:pPr algn="l"/>
            <a:r>
              <a:rPr sz="2400" b="1">
                <a:solidFill>
                  <a:srgbClr val="CC0000"/>
                </a:solidFill>
                <a:latin typeface="Calibri"/>
              </a:rPr>
              <a:t>⚠️  Pelastusvarjo on pakollinen — tarkista pakattu + huollettu ennen jokaista lentopäivää</a:t>
            </a:r>
          </a:p>
          <a:p>
            <a:pPr algn="l"/>
            <a:r>
              <a:rPr sz="2400" b="1">
                <a:solidFill>
                  <a:srgbClr val="CC0000"/>
                </a:solidFill>
                <a:latin typeface="Calibri"/>
              </a:rPr>
              <a:t>⚠️  PP1-oppilas ei lennä ilman kouluttajan valvontaa — koskaan</a:t>
            </a:r>
          </a:p>
        </p:txBody>
      </p:sp>
      <p:pic>
        <p:nvPicPr>
          <p:cNvPr id="5" name="Picture 4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🎯  Testaa tietosi!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01010"/>
                </a:solidFill>
                <a:latin typeface="Calibri"/>
              </a:rPr>
              <a:t>Avaa Foxer-sovellus ja tee päivän 1 testi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D3D3D"/>
                </a:solidFill>
                <a:latin typeface="Calibri"/>
              </a:rPr>
              <a:t>5 kysymystä · arviolta 5 minuuttia
Läpäisyraja: 3/5 oikein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73E8"/>
                </a:solidFill>
                <a:latin typeface="Calibri"/>
              </a:rPr>
              <a:t>Onnistuminen avaa Päivä 2 -materiaalin! 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D3D3D"/>
                </a:solidFill>
                <a:latin typeface="Calibri"/>
              </a:rPr>
              <a:t>Hyvää harjoittelua — nähdään kentällä huomenna!</a:t>
            </a:r>
          </a:p>
        </p:txBody>
      </p:sp>
      <p:pic>
        <p:nvPicPr>
          <p:cNvPr id="8" name="Picture 7" descr="fox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5897880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